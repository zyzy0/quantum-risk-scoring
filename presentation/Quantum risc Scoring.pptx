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Raleway"/>
      <p:regular r:id="rId34"/>
      <p:bold r:id="rId35"/>
      <p:italic r:id="rId36"/>
      <p:boldItalic r:id="rId37"/>
    </p:embeddedFont>
    <p:embeddedFont>
      <p:font typeface="Lat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italic.fntdata"/><Relationship Id="rId20" Type="http://schemas.openxmlformats.org/officeDocument/2006/relationships/slide" Target="slides/slide15.xml"/><Relationship Id="rId41" Type="http://schemas.openxmlformats.org/officeDocument/2006/relationships/font" Target="fonts/Lato-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aleway-bold.fntdata"/><Relationship Id="rId12" Type="http://schemas.openxmlformats.org/officeDocument/2006/relationships/slide" Target="slides/slide7.xml"/><Relationship Id="rId34" Type="http://schemas.openxmlformats.org/officeDocument/2006/relationships/font" Target="fonts/Raleway-regular.fntdata"/><Relationship Id="rId15" Type="http://schemas.openxmlformats.org/officeDocument/2006/relationships/slide" Target="slides/slide10.xml"/><Relationship Id="rId37" Type="http://schemas.openxmlformats.org/officeDocument/2006/relationships/font" Target="fonts/Raleway-boldItalic.fntdata"/><Relationship Id="rId14" Type="http://schemas.openxmlformats.org/officeDocument/2006/relationships/slide" Target="slides/slide9.xml"/><Relationship Id="rId36" Type="http://schemas.openxmlformats.org/officeDocument/2006/relationships/font" Target="fonts/Raleway-italic.fntdata"/><Relationship Id="rId17" Type="http://schemas.openxmlformats.org/officeDocument/2006/relationships/slide" Target="slides/slide12.xml"/><Relationship Id="rId39" Type="http://schemas.openxmlformats.org/officeDocument/2006/relationships/font" Target="fonts/Lato-bold.fntdata"/><Relationship Id="rId16" Type="http://schemas.openxmlformats.org/officeDocument/2006/relationships/slide" Target="slides/slide11.xml"/><Relationship Id="rId38" Type="http://schemas.openxmlformats.org/officeDocument/2006/relationships/font" Target="fonts/Lat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397a0dfb9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397a0dfb9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39847bc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39847bc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39847bce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939847bce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39847bce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939847bce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939847bce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939847bce5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939847bce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939847bce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93a2328e2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93a2328e2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939847bce5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939847bce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39847bce5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939847bce5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39847bce5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39847bce5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39847bce5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939847bce5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39847bce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39847bce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939847bce5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939847bce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939847bce5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939847bce5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c681831b53_3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c681831b53_3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c681831b53_3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c681831b53_3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c681831b53_3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c681831b53_3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681831b53_3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c681831b53_3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c681831b53_3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c681831b53_3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c681831b53_3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c681831b53_3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681831b53_3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c681831b53_3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c681831b53_3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c681831b53_3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c681831b53_3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c681831b53_3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c681831b53_3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c681831b53_3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939847bce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939847bce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c681831b53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c681831b53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939847bce5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939847bce5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sz="5100"/>
              <a:t>Quantum Risk Scoring </a:t>
            </a:r>
            <a:endParaRPr sz="23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pl" sz="1866">
                <a:solidFill>
                  <a:srgbClr val="000000"/>
                </a:solidFill>
              </a:rPr>
              <a:t> Predicting Financial Volatility using Variational Quantum Circuits &amp; Random Forests</a:t>
            </a:r>
            <a:endParaRPr sz="1866">
              <a:solidFill>
                <a:srgbClr val="000000"/>
              </a:solidFill>
            </a:endParaRPr>
          </a:p>
          <a:p>
            <a:pPr indent="0" lvl="0" marL="0" rtl="0" algn="l">
              <a:spcBef>
                <a:spcPts val="1200"/>
              </a:spcBef>
              <a:spcAft>
                <a:spcPts val="0"/>
              </a:spcAft>
              <a:buNone/>
            </a:pPr>
            <a:r>
              <a:t/>
            </a:r>
            <a:endParaRPr sz="2300">
              <a:solidFill>
                <a:srgbClr val="000000"/>
              </a:solidFill>
              <a:latin typeface="Arial"/>
              <a:ea typeface="Arial"/>
              <a:cs typeface="Arial"/>
              <a:sym typeface="Arial"/>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Aleksander Kwaśnioch, Karol Niemczuk, Paweł Rudnik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Agenda</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AutoNum type="arabicPeriod"/>
            </a:pPr>
            <a:r>
              <a:rPr b="1" lang="pl" sz="1600"/>
              <a:t>Problem Definition: </a:t>
            </a:r>
            <a:r>
              <a:rPr lang="pl" sz="1600"/>
              <a:t>Predicting Future Realized Volatility (21-Day Horizon).</a:t>
            </a:r>
            <a:endParaRPr sz="1600"/>
          </a:p>
          <a:p>
            <a:pPr indent="-330200" lvl="0" marL="457200" rtl="0" algn="l">
              <a:spcBef>
                <a:spcPts val="0"/>
              </a:spcBef>
              <a:spcAft>
                <a:spcPts val="0"/>
              </a:spcAft>
              <a:buSzPts val="1600"/>
              <a:buAutoNum type="arabicPeriod"/>
            </a:pPr>
            <a:r>
              <a:rPr b="1" lang="pl" sz="1600"/>
              <a:t>Data Strategy: </a:t>
            </a:r>
            <a:r>
              <a:rPr lang="pl" sz="1600"/>
              <a:t>The "Global" Dataset (Top 100 Tickers).</a:t>
            </a:r>
            <a:endParaRPr sz="1600"/>
          </a:p>
          <a:p>
            <a:pPr indent="-330200" lvl="0" marL="457200" rtl="0" algn="l">
              <a:spcBef>
                <a:spcPts val="0"/>
              </a:spcBef>
              <a:spcAft>
                <a:spcPts val="0"/>
              </a:spcAft>
              <a:buSzPts val="1600"/>
              <a:buAutoNum type="arabicPeriod"/>
            </a:pPr>
            <a:r>
              <a:rPr b="1" lang="pl" sz="1600"/>
              <a:t>Feature Engineering: </a:t>
            </a:r>
            <a:r>
              <a:rPr lang="pl" sz="1600"/>
              <a:t>The power of 90-Day Trends.</a:t>
            </a:r>
            <a:endParaRPr sz="1600"/>
          </a:p>
          <a:p>
            <a:pPr indent="-330200" lvl="0" marL="457200" rtl="0" algn="l">
              <a:spcBef>
                <a:spcPts val="0"/>
              </a:spcBef>
              <a:spcAft>
                <a:spcPts val="0"/>
              </a:spcAft>
              <a:buSzPts val="1600"/>
              <a:buAutoNum type="arabicPeriod"/>
            </a:pPr>
            <a:r>
              <a:rPr b="1" lang="pl" sz="1600"/>
              <a:t>The Bottleneck: </a:t>
            </a:r>
            <a:r>
              <a:rPr lang="pl" sz="1600"/>
              <a:t>Compressing 1301 Features to 8 Qubits.</a:t>
            </a:r>
            <a:endParaRPr sz="1600"/>
          </a:p>
          <a:p>
            <a:pPr indent="-330200" lvl="0" marL="457200" rtl="0" algn="l">
              <a:spcBef>
                <a:spcPts val="0"/>
              </a:spcBef>
              <a:spcAft>
                <a:spcPts val="0"/>
              </a:spcAft>
              <a:buSzPts val="1600"/>
              <a:buAutoNum type="arabicPeriod"/>
            </a:pPr>
            <a:r>
              <a:rPr b="1" lang="pl" sz="1600"/>
              <a:t>Models:</a:t>
            </a:r>
            <a:r>
              <a:rPr lang="pl" sz="1600"/>
              <a:t> Classical Benchmark (Random Forest) &amp; </a:t>
            </a:r>
            <a:r>
              <a:rPr lang="pl" sz="1600"/>
              <a:t>Quantum Classifier (VQC).</a:t>
            </a:r>
            <a:endParaRPr sz="1600"/>
          </a:p>
          <a:p>
            <a:pPr indent="-330200" lvl="0" marL="457200" rtl="0" algn="l">
              <a:spcBef>
                <a:spcPts val="0"/>
              </a:spcBef>
              <a:spcAft>
                <a:spcPts val="0"/>
              </a:spcAft>
              <a:buSzPts val="1600"/>
              <a:buAutoNum type="arabicPeriod"/>
            </a:pPr>
            <a:r>
              <a:rPr b="1" lang="pl" sz="1600"/>
              <a:t>Summary</a:t>
            </a:r>
            <a:endParaRPr b="1"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400"/>
              </a:spcAft>
              <a:buNone/>
            </a:pPr>
            <a:r>
              <a:rPr lang="pl" sz="2300">
                <a:solidFill>
                  <a:srgbClr val="000000"/>
                </a:solidFill>
              </a:rPr>
              <a:t>The Problem – Predicting Risk</a:t>
            </a:r>
            <a:endParaRPr sz="3600"/>
          </a:p>
        </p:txBody>
      </p:sp>
      <p:sp>
        <p:nvSpPr>
          <p:cNvPr id="99" name="Google Shape;99;p15"/>
          <p:cNvSpPr txBox="1"/>
          <p:nvPr>
            <p:ph idx="1" type="body"/>
          </p:nvPr>
        </p:nvSpPr>
        <p:spPr>
          <a:xfrm>
            <a:off x="729450" y="1931800"/>
            <a:ext cx="7880100" cy="305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l" sz="1500"/>
              <a:t>The Goal: </a:t>
            </a:r>
            <a:r>
              <a:rPr lang="pl" sz="1500"/>
              <a:t>Predict the Future Realized Volatility over the </a:t>
            </a:r>
            <a:r>
              <a:rPr b="1" lang="pl" sz="1500"/>
              <a:t>next 21 Days (1 Trading Month)</a:t>
            </a:r>
            <a:r>
              <a:rPr lang="pl" sz="1500"/>
              <a:t>.</a:t>
            </a:r>
            <a:r>
              <a:rPr lang="pl" sz="1500"/>
              <a:t> </a:t>
            </a:r>
            <a:endParaRPr b="1" sz="1500">
              <a:latin typeface="Arial"/>
              <a:ea typeface="Arial"/>
              <a:cs typeface="Arial"/>
              <a:sym typeface="Arial"/>
            </a:endParaRPr>
          </a:p>
          <a:p>
            <a:pPr indent="0" lvl="0" marL="0" rtl="0" algn="l">
              <a:spcBef>
                <a:spcPts val="1200"/>
              </a:spcBef>
              <a:spcAft>
                <a:spcPts val="0"/>
              </a:spcAft>
              <a:buNone/>
            </a:pPr>
            <a:r>
              <a:rPr b="1" lang="pl" sz="2000"/>
              <a:t>Classification:</a:t>
            </a:r>
            <a:r>
              <a:rPr b="1" lang="pl" sz="2000"/>
              <a:t> </a:t>
            </a:r>
            <a:endParaRPr b="1" sz="2000"/>
          </a:p>
          <a:p>
            <a:pPr indent="-355600" lvl="0" marL="457200" rtl="0" algn="l">
              <a:spcBef>
                <a:spcPts val="1200"/>
              </a:spcBef>
              <a:spcAft>
                <a:spcPts val="0"/>
              </a:spcAft>
              <a:buClr>
                <a:srgbClr val="6AA84F"/>
              </a:buClr>
              <a:buSzPts val="2000"/>
              <a:buChar char="-"/>
            </a:pPr>
            <a:r>
              <a:rPr b="1" lang="pl" sz="2000">
                <a:solidFill>
                  <a:srgbClr val="6AA84F"/>
                </a:solidFill>
              </a:rPr>
              <a:t>Low Risk</a:t>
            </a:r>
            <a:endParaRPr b="1" sz="2100">
              <a:solidFill>
                <a:srgbClr val="6AA84F"/>
              </a:solidFill>
            </a:endParaRPr>
          </a:p>
          <a:p>
            <a:pPr indent="-355600" lvl="0" marL="457200" rtl="0" algn="l">
              <a:spcBef>
                <a:spcPts val="0"/>
              </a:spcBef>
              <a:spcAft>
                <a:spcPts val="0"/>
              </a:spcAft>
              <a:buClr>
                <a:srgbClr val="FF9900"/>
              </a:buClr>
              <a:buSzPts val="2000"/>
              <a:buChar char="-"/>
            </a:pPr>
            <a:r>
              <a:rPr b="1" lang="pl" sz="2000">
                <a:solidFill>
                  <a:srgbClr val="FF9900"/>
                </a:solidFill>
              </a:rPr>
              <a:t>Medium Risk</a:t>
            </a:r>
            <a:endParaRPr b="1" sz="2000">
              <a:solidFill>
                <a:srgbClr val="FF9900"/>
              </a:solidFill>
            </a:endParaRPr>
          </a:p>
          <a:p>
            <a:pPr indent="-355600" lvl="0" marL="457200" rtl="0" algn="l">
              <a:spcBef>
                <a:spcPts val="0"/>
              </a:spcBef>
              <a:spcAft>
                <a:spcPts val="0"/>
              </a:spcAft>
              <a:buClr>
                <a:srgbClr val="E06666"/>
              </a:buClr>
              <a:buSzPts val="2000"/>
              <a:buChar char="-"/>
            </a:pPr>
            <a:r>
              <a:rPr b="1" lang="pl" sz="2000">
                <a:solidFill>
                  <a:srgbClr val="E06666"/>
                </a:solidFill>
              </a:rPr>
              <a:t>High Risk</a:t>
            </a:r>
            <a:endParaRPr b="1" sz="2000">
              <a:solidFill>
                <a:srgbClr val="E06666"/>
              </a:solidFill>
            </a:endParaRPr>
          </a:p>
          <a:p>
            <a:pPr indent="-355600" lvl="0" marL="457200" rtl="0" algn="l">
              <a:spcBef>
                <a:spcPts val="0"/>
              </a:spcBef>
              <a:spcAft>
                <a:spcPts val="0"/>
              </a:spcAft>
              <a:buClr>
                <a:srgbClr val="FF0000"/>
              </a:buClr>
              <a:buSzPts val="2000"/>
              <a:buChar char="-"/>
            </a:pPr>
            <a:r>
              <a:rPr b="1" lang="pl" sz="2000">
                <a:solidFill>
                  <a:srgbClr val="FF0000"/>
                </a:solidFill>
              </a:rPr>
              <a:t>Very High Risk</a:t>
            </a:r>
            <a:endParaRPr b="1" sz="2000">
              <a:solidFill>
                <a:srgbClr val="FF0000"/>
              </a:solidFill>
            </a:endParaRPr>
          </a:p>
        </p:txBody>
      </p:sp>
      <p:pic>
        <p:nvPicPr>
          <p:cNvPr id="100" name="Google Shape;100;p15"/>
          <p:cNvPicPr preferRelativeResize="0"/>
          <p:nvPr/>
        </p:nvPicPr>
        <p:blipFill>
          <a:blip r:embed="rId3">
            <a:alphaModFix/>
          </a:blip>
          <a:stretch>
            <a:fillRect/>
          </a:stretch>
        </p:blipFill>
        <p:spPr>
          <a:xfrm>
            <a:off x="4012400" y="2571750"/>
            <a:ext cx="3647574" cy="2055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Project Scope: The Quantum Simulation</a:t>
            </a:r>
            <a:endParaRPr/>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l"/>
              <a:t>Research Objective:</a:t>
            </a:r>
            <a:r>
              <a:rPr lang="pl"/>
              <a:t> Exploration of Quantum Machine Learning (QML) capabilities in financial risk classification</a:t>
            </a:r>
            <a:endParaRPr/>
          </a:p>
          <a:p>
            <a:pPr indent="0" lvl="0" marL="0" rtl="0" algn="l">
              <a:spcBef>
                <a:spcPts val="1200"/>
              </a:spcBef>
              <a:spcAft>
                <a:spcPts val="0"/>
              </a:spcAft>
              <a:buNone/>
            </a:pPr>
            <a:r>
              <a:rPr b="1" lang="pl"/>
              <a:t>Execution Environment:</a:t>
            </a:r>
            <a:r>
              <a:rPr lang="pl"/>
              <a:t> PennyLane Simulator</a:t>
            </a:r>
            <a:endParaRPr/>
          </a:p>
          <a:p>
            <a:pPr indent="0" lvl="0" marL="0" rtl="0" algn="l">
              <a:spcBef>
                <a:spcPts val="1200"/>
              </a:spcBef>
              <a:spcAft>
                <a:spcPts val="1200"/>
              </a:spcAft>
              <a:buNone/>
            </a:pPr>
            <a:r>
              <a:rPr b="1" lang="pl"/>
              <a:t>Environment:</a:t>
            </a:r>
            <a:r>
              <a:rPr lang="pl"/>
              <a:t> 8-Qubit device</a:t>
            </a:r>
            <a:endParaRPr/>
          </a:p>
        </p:txBody>
      </p:sp>
      <p:pic>
        <p:nvPicPr>
          <p:cNvPr id="107" name="Google Shape;107;p16"/>
          <p:cNvPicPr preferRelativeResize="0"/>
          <p:nvPr/>
        </p:nvPicPr>
        <p:blipFill>
          <a:blip r:embed="rId3">
            <a:alphaModFix/>
          </a:blip>
          <a:stretch>
            <a:fillRect/>
          </a:stretch>
        </p:blipFill>
        <p:spPr>
          <a:xfrm>
            <a:off x="914200" y="3134375"/>
            <a:ext cx="6685776" cy="1916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Data </a:t>
            </a:r>
            <a:r>
              <a:rPr lang="pl"/>
              <a:t>acquisition</a:t>
            </a:r>
            <a:endParaRPr/>
          </a:p>
        </p:txBody>
      </p:sp>
      <p:sp>
        <p:nvSpPr>
          <p:cNvPr id="113" name="Google Shape;113;p17"/>
          <p:cNvSpPr txBox="1"/>
          <p:nvPr>
            <p:ph idx="1" type="body"/>
          </p:nvPr>
        </p:nvSpPr>
        <p:spPr>
          <a:xfrm>
            <a:off x="412925" y="2210775"/>
            <a:ext cx="44052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l"/>
              <a:t>Source: </a:t>
            </a:r>
            <a:r>
              <a:rPr lang="pl"/>
              <a:t>Yahoo Finance API (yfinance)</a:t>
            </a:r>
            <a:endParaRPr/>
          </a:p>
          <a:p>
            <a:pPr indent="0" lvl="0" marL="0" rtl="0" algn="l">
              <a:spcBef>
                <a:spcPts val="1200"/>
              </a:spcBef>
              <a:spcAft>
                <a:spcPts val="0"/>
              </a:spcAft>
              <a:buNone/>
            </a:pPr>
            <a:r>
              <a:rPr b="1" lang="pl"/>
              <a:t>Universe: </a:t>
            </a:r>
            <a:r>
              <a:rPr lang="pl"/>
              <a:t>Top 100 US Companies by Market Cap + S&amp;P 500</a:t>
            </a:r>
            <a:endParaRPr/>
          </a:p>
          <a:p>
            <a:pPr indent="0" lvl="0" marL="0" rtl="0" algn="l">
              <a:spcBef>
                <a:spcPts val="1200"/>
              </a:spcBef>
              <a:spcAft>
                <a:spcPts val="0"/>
              </a:spcAft>
              <a:buNone/>
            </a:pPr>
            <a:r>
              <a:rPr b="1" lang="pl"/>
              <a:t>Scope: </a:t>
            </a:r>
            <a:r>
              <a:rPr lang="pl"/>
              <a:t>5 Years of historical data</a:t>
            </a:r>
            <a:endParaRPr/>
          </a:p>
          <a:p>
            <a:pPr indent="0" lvl="0" marL="0" rtl="0" algn="l">
              <a:spcBef>
                <a:spcPts val="1200"/>
              </a:spcBef>
              <a:spcAft>
                <a:spcPts val="1200"/>
              </a:spcAft>
              <a:buNone/>
            </a:pPr>
            <a:r>
              <a:rPr b="1" lang="pl"/>
              <a:t>Features: </a:t>
            </a:r>
            <a:r>
              <a:rPr lang="pl"/>
              <a:t>1301 Technical Indicators generated per timestamp.</a:t>
            </a:r>
            <a:endParaRPr/>
          </a:p>
        </p:txBody>
      </p:sp>
      <p:pic>
        <p:nvPicPr>
          <p:cNvPr id="114" name="Google Shape;114;p17"/>
          <p:cNvPicPr preferRelativeResize="0"/>
          <p:nvPr/>
        </p:nvPicPr>
        <p:blipFill>
          <a:blip r:embed="rId3">
            <a:alphaModFix/>
          </a:blip>
          <a:stretch>
            <a:fillRect/>
          </a:stretch>
        </p:blipFill>
        <p:spPr>
          <a:xfrm>
            <a:off x="4633550" y="1941775"/>
            <a:ext cx="4320570" cy="2261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descr="chcialbym zebys pozostaliwo ten slaj z bialym tlem ale dodal do kazdego punktu obrazek " id="119" name="Google Shape;119;p1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727650" y="13263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Data Preprocessing</a:t>
            </a:r>
            <a:endParaRPr/>
          </a:p>
        </p:txBody>
      </p:sp>
      <p:sp>
        <p:nvSpPr>
          <p:cNvPr id="125" name="Google Shape;125;p19"/>
          <p:cNvSpPr txBox="1"/>
          <p:nvPr>
            <p:ph idx="1" type="body"/>
          </p:nvPr>
        </p:nvSpPr>
        <p:spPr>
          <a:xfrm>
            <a:off x="676950" y="1822075"/>
            <a:ext cx="7790100" cy="3226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pl"/>
              <a:t>Process:</a:t>
            </a:r>
            <a:r>
              <a:rPr lang="pl"/>
              <a:t> For each of the 100 tickers, we calculated 13 specific technical indicators daily</a:t>
            </a:r>
            <a:endParaRPr/>
          </a:p>
          <a:p>
            <a:pPr indent="0" lvl="0" marL="0" rtl="0" algn="l">
              <a:spcBef>
                <a:spcPts val="1200"/>
              </a:spcBef>
              <a:spcAft>
                <a:spcPts val="0"/>
              </a:spcAft>
              <a:buNone/>
            </a:pPr>
            <a:r>
              <a:rPr b="1" lang="pl"/>
              <a:t>The indicators: </a:t>
            </a:r>
            <a:endParaRPr b="1"/>
          </a:p>
          <a:p>
            <a:pPr indent="-298767" lvl="0" marL="457200" rtl="0" algn="l">
              <a:spcBef>
                <a:spcPts val="1200"/>
              </a:spcBef>
              <a:spcAft>
                <a:spcPts val="0"/>
              </a:spcAft>
              <a:buSzPct val="100000"/>
              <a:buChar char="-"/>
            </a:pPr>
            <a:r>
              <a:rPr b="1" lang="pl"/>
              <a:t>Short-Term: </a:t>
            </a:r>
            <a:br>
              <a:rPr b="1" lang="pl"/>
            </a:br>
            <a:r>
              <a:rPr b="1" lang="pl"/>
              <a:t>a) Log Returns</a:t>
            </a:r>
            <a:r>
              <a:rPr lang="pl"/>
              <a:t> - A measure of price change calculated as the natural logarithm of the ratio of the final price to the initial price</a:t>
            </a:r>
            <a:br>
              <a:rPr lang="pl"/>
            </a:br>
            <a:r>
              <a:rPr lang="pl"/>
              <a:t>b) </a:t>
            </a:r>
            <a:r>
              <a:rPr b="1" lang="pl"/>
              <a:t>RSI</a:t>
            </a:r>
            <a:r>
              <a:rPr lang="pl"/>
              <a:t> - A momentum oscillator that measures the speed and change of price movements to identify overbought or oversold conditions in an asset.</a:t>
            </a:r>
            <a:br>
              <a:rPr lang="pl"/>
            </a:br>
            <a:r>
              <a:rPr lang="pl"/>
              <a:t>c) </a:t>
            </a:r>
            <a:r>
              <a:rPr b="1" lang="pl"/>
              <a:t>Volume Change</a:t>
            </a:r>
            <a:r>
              <a:rPr lang="pl"/>
              <a:t> - An indicator that reflects the percentage or absolute change in trading volume compared to a previous period</a:t>
            </a:r>
            <a:br>
              <a:rPr lang="pl"/>
            </a:br>
            <a:r>
              <a:rPr lang="pl"/>
              <a:t>d) </a:t>
            </a:r>
            <a:r>
              <a:rPr b="1" lang="pl"/>
              <a:t>20-day Volatility</a:t>
            </a:r>
            <a:r>
              <a:rPr lang="pl"/>
              <a:t> -A statistical measure of the dispersion of returns over the last 20 trading days, representing the asset's short-term risk and price fluctuations.</a:t>
            </a:r>
            <a:br>
              <a:rPr lang="pl"/>
            </a:br>
            <a:r>
              <a:rPr lang="pl"/>
              <a:t>e) </a:t>
            </a:r>
            <a:r>
              <a:rPr b="1" lang="pl"/>
              <a:t>SMA 20 Ratio</a:t>
            </a:r>
            <a:r>
              <a:rPr lang="pl"/>
              <a:t> - The ratio of the current price to its 20-day Simple Moving Average, used to determine how far the price has deviated from its short-term mean.</a:t>
            </a:r>
            <a:br>
              <a:rPr lang="pl"/>
            </a:br>
            <a:r>
              <a:rPr lang="pl"/>
              <a:t>f) </a:t>
            </a:r>
            <a:r>
              <a:rPr b="1" lang="pl"/>
              <a:t>Relative Return</a:t>
            </a:r>
            <a:r>
              <a:rPr lang="pl"/>
              <a:t> - The difference between the return of a specific asset and the return of a benchmark or market index over the same period.</a:t>
            </a:r>
            <a:br>
              <a:rPr lang="pl"/>
            </a:br>
            <a:r>
              <a:rPr lang="pl"/>
              <a:t>g) </a:t>
            </a:r>
            <a:r>
              <a:rPr b="1" lang="pl"/>
              <a:t>Market Correlation</a:t>
            </a:r>
            <a:r>
              <a:rPr lang="pl"/>
              <a:t> - A coefficient that measures how closely an asset's price moves in relation to the broader market or a specific reference index.</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Data Preprocessing</a:t>
            </a:r>
            <a:endParaRPr/>
          </a:p>
          <a:p>
            <a:pPr indent="0" lvl="0" marL="0" rtl="0" algn="l">
              <a:spcBef>
                <a:spcPts val="0"/>
              </a:spcBef>
              <a:spcAft>
                <a:spcPts val="0"/>
              </a:spcAft>
              <a:buNone/>
            </a:pPr>
            <a:r>
              <a:t/>
            </a:r>
            <a:endParaRPr/>
          </a:p>
        </p:txBody>
      </p:sp>
      <p:sp>
        <p:nvSpPr>
          <p:cNvPr id="131" name="Google Shape;131;p20"/>
          <p:cNvSpPr txBox="1"/>
          <p:nvPr>
            <p:ph idx="1" type="body"/>
          </p:nvPr>
        </p:nvSpPr>
        <p:spPr>
          <a:xfrm>
            <a:off x="729450" y="1853850"/>
            <a:ext cx="7688700" cy="31257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pl"/>
              <a:t>The indicators:</a:t>
            </a:r>
            <a:endParaRPr b="1"/>
          </a:p>
          <a:p>
            <a:pPr indent="-298767" lvl="0" marL="457200" rtl="0" algn="l">
              <a:spcBef>
                <a:spcPts val="1200"/>
              </a:spcBef>
              <a:spcAft>
                <a:spcPts val="0"/>
              </a:spcAft>
              <a:buSzPct val="100000"/>
              <a:buChar char="-"/>
            </a:pPr>
            <a:r>
              <a:rPr b="1" lang="pl"/>
              <a:t>Medium-Term (Quarterly): </a:t>
            </a:r>
            <a:br>
              <a:rPr b="1" lang="pl"/>
            </a:br>
            <a:r>
              <a:rPr b="1" lang="pl"/>
              <a:t>90-day Volatility</a:t>
            </a:r>
            <a:r>
              <a:rPr lang="pl"/>
              <a:t> - The annualized standard deviation of daily returns over the last 90 days, reflecting the medium-term price stability or risk level of the asset.</a:t>
            </a:r>
            <a:br>
              <a:rPr lang="pl"/>
            </a:br>
            <a:r>
              <a:rPr b="1" lang="pl"/>
              <a:t>90-day Return</a:t>
            </a:r>
            <a:r>
              <a:rPr lang="pl"/>
              <a:t> - The total percentage change in the asset's price over the last 90 days, representing the absolute performance over a full trading quarter.</a:t>
            </a:r>
            <a:br>
              <a:rPr lang="pl"/>
            </a:br>
            <a:r>
              <a:rPr b="1" lang="pl"/>
              <a:t>90-day Maximum Drawdown</a:t>
            </a:r>
            <a:r>
              <a:rPr lang="pl"/>
              <a:t> - The measure of the largest peak-to-trough decline in price during the last 90 days, indicating the worst-case loss scenario a holder could have experienced in that window. </a:t>
            </a:r>
            <a:br>
              <a:rPr lang="pl"/>
            </a:br>
            <a:r>
              <a:rPr b="1" lang="pl"/>
              <a:t>SMA 50 Ratio</a:t>
            </a:r>
            <a:r>
              <a:rPr lang="pl"/>
              <a:t> - The ratio between the current price and its 50-day Simple Moving Average, used to identify if an asset is currently overextended or undervalued relative to its medium-term trend.</a:t>
            </a:r>
            <a:endParaRPr/>
          </a:p>
          <a:p>
            <a:pPr indent="-298767" lvl="0" marL="457200" rtl="0" algn="l">
              <a:spcBef>
                <a:spcPts val="0"/>
              </a:spcBef>
              <a:spcAft>
                <a:spcPts val="0"/>
              </a:spcAft>
              <a:buSzPct val="100000"/>
              <a:buChar char="-"/>
            </a:pPr>
            <a:r>
              <a:rPr b="1" lang="pl"/>
              <a:t>Structure: </a:t>
            </a:r>
            <a:br>
              <a:rPr b="1" lang="pl"/>
            </a:br>
            <a:r>
              <a:rPr b="1" lang="pl"/>
              <a:t>Bollinger_Pct (%B)</a:t>
            </a:r>
            <a:r>
              <a:rPr lang="pl"/>
              <a:t> - A metric that quantifies where the current price sits relative to the bands, where 1.0 is the upper band, 0.0 is the lower band, and values above or below indicate the price is "trading outside the bands."</a:t>
            </a:r>
            <a:br>
              <a:rPr lang="pl"/>
            </a:br>
            <a:r>
              <a:rPr b="1" lang="pl"/>
              <a:t>Bollinger_Width</a:t>
            </a:r>
            <a:r>
              <a:rPr lang="pl"/>
              <a:t> - A measure of the distance between the upper and lower bands, which identifies periods of high volatility or extreme "squeezes" that often precede major price breakouts.</a:t>
            </a:r>
            <a:endParaRPr/>
          </a:p>
          <a:p>
            <a:pPr indent="0" lvl="0" marL="0" rtl="0" algn="l">
              <a:spcBef>
                <a:spcPts val="1200"/>
              </a:spcBef>
              <a:spcAft>
                <a:spcPts val="1200"/>
              </a:spcAft>
              <a:buNone/>
            </a:pPr>
            <a:r>
              <a:rPr lang="pl"/>
              <a:t>Total dimension: </a:t>
            </a:r>
            <a:r>
              <a:rPr b="1" lang="pl"/>
              <a:t>( 100 Tickers * 13 Features) + 1 Market Index = 1301 Total Features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Classical Baseline (Random Forest)</a:t>
            </a:r>
            <a:endParaRPr/>
          </a:p>
        </p:txBody>
      </p:sp>
      <p:sp>
        <p:nvSpPr>
          <p:cNvPr id="137" name="Google Shape;137;p21"/>
          <p:cNvSpPr txBox="1"/>
          <p:nvPr>
            <p:ph idx="1" type="body"/>
          </p:nvPr>
        </p:nvSpPr>
        <p:spPr>
          <a:xfrm>
            <a:off x="729450" y="1853850"/>
            <a:ext cx="7688700" cy="3066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pl"/>
              <a:t>Algorithm:</a:t>
            </a:r>
            <a:r>
              <a:rPr lang="pl"/>
              <a:t> Random Forest Classifier (Ensemble of Decision Trees)</a:t>
            </a:r>
            <a:endParaRPr/>
          </a:p>
          <a:p>
            <a:pPr indent="0" lvl="0" marL="0" rtl="0" algn="l">
              <a:spcBef>
                <a:spcPts val="1200"/>
              </a:spcBef>
              <a:spcAft>
                <a:spcPts val="0"/>
              </a:spcAft>
              <a:buNone/>
            </a:pPr>
            <a:r>
              <a:rPr b="1" lang="pl"/>
              <a:t>Training Data: </a:t>
            </a:r>
            <a:r>
              <a:rPr lang="pl"/>
              <a:t>Trained on the full "Long" dataset, ~125k rows (no PCA compression needed).</a:t>
            </a:r>
            <a:endParaRPr/>
          </a:p>
          <a:p>
            <a:pPr indent="0" lvl="0" marL="0" rtl="0" algn="l">
              <a:spcBef>
                <a:spcPts val="1200"/>
              </a:spcBef>
              <a:spcAft>
                <a:spcPts val="0"/>
              </a:spcAft>
              <a:buNone/>
            </a:pPr>
            <a:r>
              <a:rPr b="1" lang="pl"/>
              <a:t>Purpose:  </a:t>
            </a:r>
            <a:r>
              <a:rPr lang="pl"/>
              <a:t>To set a performance benchmark and to analyze Feature Importance (explainability).</a:t>
            </a:r>
            <a:endParaRPr/>
          </a:p>
          <a:p>
            <a:pPr indent="0" lvl="0" marL="0" rtl="0" algn="l">
              <a:spcBef>
                <a:spcPts val="1200"/>
              </a:spcBef>
              <a:spcAft>
                <a:spcPts val="0"/>
              </a:spcAft>
              <a:buNone/>
            </a:pPr>
            <a:r>
              <a:rPr b="1" lang="pl"/>
              <a:t>Why Random Forest?</a:t>
            </a:r>
            <a:endParaRPr b="1"/>
          </a:p>
          <a:p>
            <a:pPr indent="-311150" lvl="0" marL="457200" rtl="0" algn="l">
              <a:spcBef>
                <a:spcPts val="1200"/>
              </a:spcBef>
              <a:spcAft>
                <a:spcPts val="0"/>
              </a:spcAft>
              <a:buSzPts val="1300"/>
              <a:buChar char="-"/>
            </a:pPr>
            <a:r>
              <a:rPr b="1" lang="pl"/>
              <a:t>Robust to Noise and Overfitting - </a:t>
            </a:r>
            <a:r>
              <a:rPr lang="pl"/>
              <a:t>By averaging multiple decision trees, the ensemble method mitigates the impact of market noise inherent in a 5-year dataset, providing more stable risk predictions than single estimators.</a:t>
            </a:r>
            <a:endParaRPr/>
          </a:p>
          <a:p>
            <a:pPr indent="-311150" lvl="0" marL="457200" rtl="0" algn="l">
              <a:spcBef>
                <a:spcPts val="0"/>
              </a:spcBef>
              <a:spcAft>
                <a:spcPts val="0"/>
              </a:spcAft>
              <a:buSzPts val="1300"/>
              <a:buChar char="-"/>
            </a:pPr>
            <a:r>
              <a:rPr b="1" lang="pl"/>
              <a:t>Optimal for Medium-Sized Datasets - </a:t>
            </a:r>
            <a:r>
              <a:rPr lang="pl"/>
              <a:t>Random Forest achieves high performance on limited 5-year timeframes without the computational cost or instability</a:t>
            </a:r>
            <a:endParaRPr/>
          </a:p>
          <a:p>
            <a:pPr indent="-311150" lvl="0" marL="457200" rtl="0" algn="l">
              <a:spcBef>
                <a:spcPts val="0"/>
              </a:spcBef>
              <a:spcAft>
                <a:spcPts val="0"/>
              </a:spcAft>
              <a:buSzPts val="1300"/>
              <a:buChar char="-"/>
            </a:pPr>
            <a:r>
              <a:rPr b="1" lang="pl"/>
              <a:t>Transparent Risk Drivers - </a:t>
            </a:r>
            <a:r>
              <a:rPr lang="pl"/>
              <a:t> Our model provides feature importance analysis offering clear interpretability on  specific indicators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Random Forest</a:t>
            </a:r>
            <a:endParaRPr/>
          </a:p>
        </p:txBody>
      </p:sp>
      <p:sp>
        <p:nvSpPr>
          <p:cNvPr id="143" name="Google Shape;143;p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4" name="Google Shape;144;p22"/>
          <p:cNvPicPr preferRelativeResize="0"/>
          <p:nvPr/>
        </p:nvPicPr>
        <p:blipFill>
          <a:blip r:embed="rId3">
            <a:alphaModFix/>
          </a:blip>
          <a:stretch>
            <a:fillRect/>
          </a:stretch>
        </p:blipFill>
        <p:spPr>
          <a:xfrm>
            <a:off x="165325" y="2192000"/>
            <a:ext cx="3821950" cy="2866474"/>
          </a:xfrm>
          <a:prstGeom prst="rect">
            <a:avLst/>
          </a:prstGeom>
          <a:noFill/>
          <a:ln>
            <a:noFill/>
          </a:ln>
        </p:spPr>
      </p:pic>
      <p:pic>
        <p:nvPicPr>
          <p:cNvPr id="145" name="Google Shape;145;p22"/>
          <p:cNvPicPr preferRelativeResize="0"/>
          <p:nvPr/>
        </p:nvPicPr>
        <p:blipFill>
          <a:blip r:embed="rId4">
            <a:alphaModFix/>
          </a:blip>
          <a:stretch>
            <a:fillRect/>
          </a:stretch>
        </p:blipFill>
        <p:spPr>
          <a:xfrm>
            <a:off x="4246875" y="2078875"/>
            <a:ext cx="4645850" cy="2787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Random Forest</a:t>
            </a:r>
            <a:endParaRPr/>
          </a:p>
        </p:txBody>
      </p:sp>
      <p:sp>
        <p:nvSpPr>
          <p:cNvPr id="151" name="Google Shape;151;p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2" name="Google Shape;152;p23" title="Screenshot 2026-02-08 at 22.32.54.png"/>
          <p:cNvPicPr preferRelativeResize="0"/>
          <p:nvPr/>
        </p:nvPicPr>
        <p:blipFill>
          <a:blip r:embed="rId3">
            <a:alphaModFix/>
          </a:blip>
          <a:stretch>
            <a:fillRect/>
          </a:stretch>
        </p:blipFill>
        <p:spPr>
          <a:xfrm>
            <a:off x="390075" y="1973774"/>
            <a:ext cx="2492000" cy="3037474"/>
          </a:xfrm>
          <a:prstGeom prst="rect">
            <a:avLst/>
          </a:prstGeom>
          <a:noFill/>
          <a:ln>
            <a:noFill/>
          </a:ln>
        </p:spPr>
      </p:pic>
      <p:pic>
        <p:nvPicPr>
          <p:cNvPr id="153" name="Google Shape;153;p23"/>
          <p:cNvPicPr preferRelativeResize="0"/>
          <p:nvPr/>
        </p:nvPicPr>
        <p:blipFill>
          <a:blip r:embed="rId4">
            <a:alphaModFix/>
          </a:blip>
          <a:stretch>
            <a:fillRect/>
          </a:stretch>
        </p:blipFill>
        <p:spPr>
          <a:xfrm>
            <a:off x="3171125" y="1736200"/>
            <a:ext cx="5692327" cy="28461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Variational Quantum Classifier (VQC)</a:t>
            </a:r>
            <a:endParaRPr/>
          </a:p>
          <a:p>
            <a:pPr indent="0" lvl="0" marL="0" rtl="0" algn="l">
              <a:spcBef>
                <a:spcPts val="0"/>
              </a:spcBef>
              <a:spcAft>
                <a:spcPts val="0"/>
              </a:spcAft>
              <a:buNone/>
            </a:pPr>
            <a:r>
              <a:t/>
            </a:r>
            <a:endParaRPr/>
          </a:p>
        </p:txBody>
      </p:sp>
      <p:sp>
        <p:nvSpPr>
          <p:cNvPr id="159" name="Google Shape;159;p2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pl"/>
              <a:t>Framework: PennyLane</a:t>
            </a:r>
            <a:endParaRPr/>
          </a:p>
          <a:p>
            <a:pPr indent="0" lvl="0" marL="0" rtl="0" algn="l">
              <a:spcBef>
                <a:spcPts val="1200"/>
              </a:spcBef>
              <a:spcAft>
                <a:spcPts val="0"/>
              </a:spcAft>
              <a:buNone/>
            </a:pPr>
            <a:r>
              <a:rPr lang="pl"/>
              <a:t>Type: Hybrid Quantum-Classical Loop</a:t>
            </a:r>
            <a:endParaRPr/>
          </a:p>
          <a:p>
            <a:pPr indent="0" lvl="0" marL="0" rtl="0" algn="l">
              <a:spcBef>
                <a:spcPts val="1200"/>
              </a:spcBef>
              <a:spcAft>
                <a:spcPts val="0"/>
              </a:spcAft>
              <a:buNone/>
            </a:pPr>
            <a:r>
              <a:rPr lang="pl"/>
              <a:t>Workflow:</a:t>
            </a:r>
            <a:endParaRPr/>
          </a:p>
          <a:p>
            <a:pPr indent="-304958" lvl="0" marL="457200" rtl="0" algn="l">
              <a:spcBef>
                <a:spcPts val="1200"/>
              </a:spcBef>
              <a:spcAft>
                <a:spcPts val="0"/>
              </a:spcAft>
              <a:buSzPct val="100000"/>
              <a:buAutoNum type="arabicPeriod"/>
            </a:pPr>
            <a:r>
              <a:rPr lang="pl"/>
              <a:t>State Preparation (Encoding Data)</a:t>
            </a:r>
            <a:endParaRPr/>
          </a:p>
          <a:p>
            <a:pPr indent="-304958" lvl="0" marL="457200" rtl="0" algn="l">
              <a:spcBef>
                <a:spcPts val="0"/>
              </a:spcBef>
              <a:spcAft>
                <a:spcPts val="0"/>
              </a:spcAft>
              <a:buSzPct val="100000"/>
              <a:buAutoNum type="arabicPeriod"/>
            </a:pPr>
            <a:r>
              <a:rPr lang="pl"/>
              <a:t>Ansatz (Quantum Neural Network)</a:t>
            </a:r>
            <a:endParaRPr/>
          </a:p>
          <a:p>
            <a:pPr indent="-304958" lvl="0" marL="457200" rtl="0" algn="l">
              <a:spcBef>
                <a:spcPts val="0"/>
              </a:spcBef>
              <a:spcAft>
                <a:spcPts val="0"/>
              </a:spcAft>
              <a:buSzPct val="100000"/>
              <a:buAutoNum type="arabicPeriod"/>
            </a:pPr>
            <a:r>
              <a:rPr lang="pl"/>
              <a:t>Measurement (Output)</a:t>
            </a:r>
            <a:endParaRPr/>
          </a:p>
          <a:p>
            <a:pPr indent="-304958" lvl="0" marL="457200" rtl="0" algn="l">
              <a:spcBef>
                <a:spcPts val="0"/>
              </a:spcBef>
              <a:spcAft>
                <a:spcPts val="0"/>
              </a:spcAft>
              <a:buSzPct val="100000"/>
              <a:buAutoNum type="arabicPeriod"/>
            </a:pPr>
            <a:r>
              <a:rPr lang="pl"/>
              <a:t>Classical Optimizer (Update Weights)</a:t>
            </a:r>
            <a:endParaRPr/>
          </a:p>
          <a:p>
            <a:pPr indent="0" lvl="0" marL="457200" rtl="0" algn="l">
              <a:spcBef>
                <a:spcPts val="1200"/>
              </a:spcBef>
              <a:spcAft>
                <a:spcPts val="1200"/>
              </a:spcAft>
              <a:buNone/>
            </a:pPr>
            <a:r>
              <a:rPr lang="pl"/>
              <a:t>Classical Data -&gt; PCA -&gt; Quantum Circuit -&gt; Measurement -&gt; Optimizer -&gt; New Weights.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The </a:t>
            </a:r>
            <a:r>
              <a:rPr lang="pl"/>
              <a:t>engineering</a:t>
            </a:r>
            <a:r>
              <a:rPr lang="pl"/>
              <a:t> challenge for quantum</a:t>
            </a:r>
            <a:endParaRPr/>
          </a:p>
        </p:txBody>
      </p:sp>
      <p:sp>
        <p:nvSpPr>
          <p:cNvPr id="165" name="Google Shape;165;p25"/>
          <p:cNvSpPr txBox="1"/>
          <p:nvPr>
            <p:ph idx="1" type="body"/>
          </p:nvPr>
        </p:nvSpPr>
        <p:spPr>
          <a:xfrm>
            <a:off x="210700" y="2210775"/>
            <a:ext cx="46953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l" sz="1500"/>
              <a:t>The problem: </a:t>
            </a:r>
            <a:endParaRPr b="1" sz="1500"/>
          </a:p>
          <a:p>
            <a:pPr indent="-323850" lvl="0" marL="457200" rtl="0" algn="l">
              <a:spcBef>
                <a:spcPts val="1200"/>
              </a:spcBef>
              <a:spcAft>
                <a:spcPts val="0"/>
              </a:spcAft>
              <a:buSzPts val="1500"/>
              <a:buChar char="-"/>
            </a:pPr>
            <a:r>
              <a:rPr b="1" lang="pl" sz="1500"/>
              <a:t>Input 1301 Features ( </a:t>
            </a:r>
            <a:r>
              <a:rPr b="1" lang="pl" sz="1500"/>
              <a:t>High</a:t>
            </a:r>
            <a:r>
              <a:rPr b="1" lang="pl" sz="1500"/>
              <a:t> dimensionality)</a:t>
            </a:r>
            <a:endParaRPr b="1" sz="1500"/>
          </a:p>
          <a:p>
            <a:pPr indent="-323850" lvl="0" marL="457200" rtl="0" algn="l">
              <a:spcBef>
                <a:spcPts val="0"/>
              </a:spcBef>
              <a:spcAft>
                <a:spcPts val="0"/>
              </a:spcAft>
              <a:buSzPts val="1500"/>
              <a:buChar char="-"/>
            </a:pPr>
            <a:r>
              <a:rPr b="1" lang="pl" sz="1500"/>
              <a:t>Hardware 8 qubits (We are simulating 8 qubits device)</a:t>
            </a:r>
            <a:endParaRPr b="1" sz="1500"/>
          </a:p>
          <a:p>
            <a:pPr indent="0" lvl="0" marL="457200" rtl="0" algn="l">
              <a:spcBef>
                <a:spcPts val="1200"/>
              </a:spcBef>
              <a:spcAft>
                <a:spcPts val="1200"/>
              </a:spcAft>
              <a:buNone/>
            </a:pPr>
            <a:r>
              <a:rPr b="1" lang="pl" sz="1800"/>
              <a:t>Mapping 1301 features directly to 8 qubits is inefficient and noisy</a:t>
            </a:r>
            <a:endParaRPr b="1" sz="1800"/>
          </a:p>
        </p:txBody>
      </p:sp>
      <p:pic>
        <p:nvPicPr>
          <p:cNvPr id="166" name="Google Shape;166;p25"/>
          <p:cNvPicPr preferRelativeResize="0"/>
          <p:nvPr/>
        </p:nvPicPr>
        <p:blipFill>
          <a:blip r:embed="rId3">
            <a:alphaModFix/>
          </a:blip>
          <a:stretch>
            <a:fillRect/>
          </a:stretch>
        </p:blipFill>
        <p:spPr>
          <a:xfrm>
            <a:off x="4976700" y="1749650"/>
            <a:ext cx="4167300" cy="2778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The Solution: PCA</a:t>
            </a:r>
            <a:endParaRPr/>
          </a:p>
        </p:txBody>
      </p:sp>
      <p:sp>
        <p:nvSpPr>
          <p:cNvPr id="172" name="Google Shape;172;p26"/>
          <p:cNvSpPr txBox="1"/>
          <p:nvPr>
            <p:ph idx="1" type="body"/>
          </p:nvPr>
        </p:nvSpPr>
        <p:spPr>
          <a:xfrm>
            <a:off x="383550" y="2158875"/>
            <a:ext cx="53652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l" sz="1600"/>
              <a:t>Method: </a:t>
            </a:r>
            <a:r>
              <a:rPr lang="pl" sz="1600"/>
              <a:t>Principal Component Analysis (PCA)</a:t>
            </a:r>
            <a:endParaRPr sz="1600"/>
          </a:p>
          <a:p>
            <a:pPr indent="0" lvl="0" marL="0" rtl="0" algn="l">
              <a:spcBef>
                <a:spcPts val="1200"/>
              </a:spcBef>
              <a:spcAft>
                <a:spcPts val="0"/>
              </a:spcAft>
              <a:buNone/>
            </a:pPr>
            <a:r>
              <a:rPr b="1" lang="pl" sz="1600"/>
              <a:t>Compression:</a:t>
            </a:r>
            <a:r>
              <a:rPr lang="pl" sz="1600"/>
              <a:t> 1301 Features → 8 Principal Components</a:t>
            </a:r>
            <a:endParaRPr sz="1600"/>
          </a:p>
          <a:p>
            <a:pPr indent="0" lvl="0" marL="0" rtl="0" algn="l">
              <a:spcBef>
                <a:spcPts val="1200"/>
              </a:spcBef>
              <a:spcAft>
                <a:spcPts val="0"/>
              </a:spcAft>
              <a:buNone/>
            </a:pPr>
            <a:r>
              <a:rPr b="1" lang="pl" sz="1600"/>
              <a:t>Encoding: </a:t>
            </a:r>
            <a:r>
              <a:rPr lang="pl" sz="1600"/>
              <a:t>Components scaled to &lt;0,  π&gt; (Radians)</a:t>
            </a:r>
            <a:endParaRPr sz="1600"/>
          </a:p>
          <a:p>
            <a:pPr indent="0" lvl="0" marL="0" rtl="0" algn="l">
              <a:spcBef>
                <a:spcPts val="1200"/>
              </a:spcBef>
              <a:spcAft>
                <a:spcPts val="1200"/>
              </a:spcAft>
              <a:buNone/>
            </a:pPr>
            <a:r>
              <a:rPr b="1" lang="pl" sz="1600"/>
              <a:t>Result: </a:t>
            </a:r>
            <a:r>
              <a:rPr lang="pl" sz="1600"/>
              <a:t>The "Essence" of the market state compressed into </a:t>
            </a:r>
            <a:r>
              <a:rPr b="1" lang="pl" sz="1600"/>
              <a:t>8 rotation angles</a:t>
            </a:r>
            <a:endParaRPr b="1" sz="1600"/>
          </a:p>
        </p:txBody>
      </p:sp>
      <p:pic>
        <p:nvPicPr>
          <p:cNvPr id="173" name="Google Shape;173;p26"/>
          <p:cNvPicPr preferRelativeResize="0"/>
          <p:nvPr/>
        </p:nvPicPr>
        <p:blipFill>
          <a:blip r:embed="rId3">
            <a:alphaModFix/>
          </a:blip>
          <a:stretch>
            <a:fillRect/>
          </a:stretch>
        </p:blipFill>
        <p:spPr>
          <a:xfrm>
            <a:off x="5677350" y="932000"/>
            <a:ext cx="3246800" cy="40268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Variational Quantum Classifier (VQC)</a:t>
            </a:r>
            <a:endParaRPr/>
          </a:p>
        </p:txBody>
      </p:sp>
      <p:sp>
        <p:nvSpPr>
          <p:cNvPr id="179" name="Google Shape;179;p27"/>
          <p:cNvSpPr txBox="1"/>
          <p:nvPr>
            <p:ph idx="1" type="body"/>
          </p:nvPr>
        </p:nvSpPr>
        <p:spPr>
          <a:xfrm>
            <a:off x="729450" y="1931900"/>
            <a:ext cx="7688700" cy="2261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018"/>
              <a:buNone/>
            </a:pPr>
            <a:r>
              <a:rPr b="1" lang="pl" sz="1600"/>
              <a:t>Definition:</a:t>
            </a:r>
            <a:endParaRPr b="1" sz="1600"/>
          </a:p>
          <a:p>
            <a:pPr indent="-330200" lvl="0" marL="457200" rtl="0" algn="l">
              <a:lnSpc>
                <a:spcPct val="95000"/>
              </a:lnSpc>
              <a:spcBef>
                <a:spcPts val="1200"/>
              </a:spcBef>
              <a:spcAft>
                <a:spcPts val="0"/>
              </a:spcAft>
              <a:buClr>
                <a:schemeClr val="accent1"/>
              </a:buClr>
              <a:buSzPts val="1600"/>
              <a:buFont typeface="Lato"/>
              <a:buChar char="●"/>
            </a:pPr>
            <a:r>
              <a:rPr b="1" lang="pl" sz="1600"/>
              <a:t>A VQC is a hybrid quantum-classical algorithm, analogous to a classical Neural Network.</a:t>
            </a:r>
            <a:endParaRPr b="1"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1200"/>
              </a:spcAft>
              <a:buNone/>
            </a:pPr>
            <a:r>
              <a:rPr lang="pl" sz="2300">
                <a:solidFill>
                  <a:srgbClr val="000000"/>
                </a:solidFill>
              </a:rPr>
              <a:t>How it works:</a:t>
            </a:r>
            <a:endParaRPr sz="2300"/>
          </a:p>
        </p:txBody>
      </p:sp>
      <p:sp>
        <p:nvSpPr>
          <p:cNvPr id="185" name="Google Shape;185;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30200" lvl="0" marL="457200" rtl="0" algn="l">
              <a:lnSpc>
                <a:spcPct val="75000"/>
              </a:lnSpc>
              <a:spcBef>
                <a:spcPts val="0"/>
              </a:spcBef>
              <a:spcAft>
                <a:spcPts val="0"/>
              </a:spcAft>
              <a:buSzPts val="1600"/>
              <a:buAutoNum type="arabicPeriod"/>
            </a:pPr>
            <a:r>
              <a:rPr b="1" lang="pl" sz="1600"/>
              <a:t>State Preparation:</a:t>
            </a:r>
            <a:r>
              <a:rPr lang="pl" sz="1600"/>
              <a:t> Classical data is encoded into a quantum state.</a:t>
            </a:r>
            <a:endParaRPr sz="1600"/>
          </a:p>
          <a:p>
            <a:pPr indent="-330200" lvl="0" marL="457200" rtl="0" algn="l">
              <a:lnSpc>
                <a:spcPct val="75000"/>
              </a:lnSpc>
              <a:spcBef>
                <a:spcPts val="0"/>
              </a:spcBef>
              <a:spcAft>
                <a:spcPts val="0"/>
              </a:spcAft>
              <a:buSzPts val="1600"/>
              <a:buAutoNum type="arabicPeriod"/>
            </a:pPr>
            <a:r>
              <a:rPr b="1" lang="pl" sz="1600"/>
              <a:t>Parameterized Circuit (PQC):</a:t>
            </a:r>
            <a:r>
              <a:rPr lang="pl" sz="1600"/>
              <a:t> A series of quantum gates (Rotations + Entanglement) process the data. These gates have tunable parameters </a:t>
            </a:r>
            <a:r>
              <a:rPr lang="pl" sz="1600">
                <a:highlight>
                  <a:srgbClr val="FFFFFF"/>
                </a:highlight>
              </a:rPr>
              <a:t>θ (theta)</a:t>
            </a:r>
            <a:r>
              <a:rPr lang="pl" sz="1600"/>
              <a:t>, similar to weights in a neural network.</a:t>
            </a:r>
            <a:endParaRPr sz="1600"/>
          </a:p>
          <a:p>
            <a:pPr indent="-330200" lvl="0" marL="457200" rtl="0" algn="l">
              <a:lnSpc>
                <a:spcPct val="75000"/>
              </a:lnSpc>
              <a:spcBef>
                <a:spcPts val="0"/>
              </a:spcBef>
              <a:spcAft>
                <a:spcPts val="0"/>
              </a:spcAft>
              <a:buSzPts val="1600"/>
              <a:buAutoNum type="arabicPeriod"/>
            </a:pPr>
            <a:r>
              <a:rPr b="1" lang="pl" sz="1600"/>
              <a:t>Measurement:</a:t>
            </a:r>
            <a:r>
              <a:rPr lang="pl" sz="1600"/>
              <a:t> We measure the quantum state to get a probability distribution.</a:t>
            </a:r>
            <a:endParaRPr sz="1600"/>
          </a:p>
          <a:p>
            <a:pPr indent="-330200" lvl="0" marL="457200" rtl="0" algn="l">
              <a:lnSpc>
                <a:spcPct val="75000"/>
              </a:lnSpc>
              <a:spcBef>
                <a:spcPts val="0"/>
              </a:spcBef>
              <a:spcAft>
                <a:spcPts val="0"/>
              </a:spcAft>
              <a:buSzPts val="1600"/>
              <a:buAutoNum type="arabicPeriod"/>
            </a:pPr>
            <a:r>
              <a:rPr b="1" lang="pl" sz="1600"/>
              <a:t>Classical Optimization:</a:t>
            </a:r>
            <a:r>
              <a:rPr lang="pl" sz="1600"/>
              <a:t> A classical optimizer (e.g., Adam) updates the parameters </a:t>
            </a:r>
            <a:r>
              <a:rPr lang="pl" sz="1600">
                <a:highlight>
                  <a:srgbClr val="FFFFFF"/>
                </a:highlight>
              </a:rPr>
              <a:t>θ (theta)</a:t>
            </a:r>
            <a:r>
              <a:rPr lang="pl" sz="1600"/>
              <a:t> to minimize the loss function.</a:t>
            </a:r>
            <a:endParaRPr sz="1600"/>
          </a:p>
          <a:p>
            <a:pPr indent="0" lvl="0" marL="0" rtl="0" algn="l">
              <a:lnSpc>
                <a:spcPct val="95000"/>
              </a:lnSpc>
              <a:spcBef>
                <a:spcPts val="1200"/>
              </a:spcBef>
              <a:spcAft>
                <a:spcPts val="1200"/>
              </a:spcAft>
              <a:buSzPts val="1018"/>
              <a:buNone/>
            </a:pPr>
            <a:r>
              <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8-Qubit Quantum Risk Model</a:t>
            </a:r>
            <a:endParaRPr/>
          </a:p>
        </p:txBody>
      </p:sp>
      <p:sp>
        <p:nvSpPr>
          <p:cNvPr id="191" name="Google Shape;191;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l" sz="1600"/>
              <a:t>Circuit Structure:</a:t>
            </a:r>
            <a:endParaRPr b="1" sz="1600"/>
          </a:p>
          <a:p>
            <a:pPr indent="-330200" lvl="0" marL="457200" rtl="0" algn="l">
              <a:spcBef>
                <a:spcPts val="1200"/>
              </a:spcBef>
              <a:spcAft>
                <a:spcPts val="0"/>
              </a:spcAft>
              <a:buClr>
                <a:schemeClr val="accent1"/>
              </a:buClr>
              <a:buSzPts val="1600"/>
              <a:buFont typeface="Arial"/>
              <a:buChar char="●"/>
            </a:pPr>
            <a:r>
              <a:rPr b="1" lang="pl" sz="1600"/>
              <a:t>Width: 8 Qubits (Direct mapping: 1 PCA component -&gt; 1 Qubit).</a:t>
            </a:r>
            <a:endParaRPr b="1" sz="1600"/>
          </a:p>
          <a:p>
            <a:pPr indent="-330200" lvl="0" marL="457200" rtl="0" algn="l">
              <a:spcBef>
                <a:spcPts val="0"/>
              </a:spcBef>
              <a:spcAft>
                <a:spcPts val="0"/>
              </a:spcAft>
              <a:buClr>
                <a:schemeClr val="accent1"/>
              </a:buClr>
              <a:buSzPts val="1600"/>
              <a:buFont typeface="Arial"/>
              <a:buChar char="●"/>
            </a:pPr>
            <a:r>
              <a:rPr b="1" lang="pl" sz="1600"/>
              <a:t>Depth: 3 Layers of repeated operations.</a:t>
            </a:r>
            <a:endParaRPr b="1"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0"/>
          <p:cNvSpPr txBox="1"/>
          <p:nvPr>
            <p:ph idx="1" type="body"/>
          </p:nvPr>
        </p:nvSpPr>
        <p:spPr>
          <a:xfrm>
            <a:off x="729450" y="1238825"/>
            <a:ext cx="7688700" cy="31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pl" sz="1600"/>
              <a:t>Step-by-Step Data Flow:</a:t>
            </a:r>
            <a:endParaRPr b="1" sz="1600"/>
          </a:p>
          <a:p>
            <a:pPr indent="-330200" lvl="0" marL="457200" rtl="0" algn="l">
              <a:spcBef>
                <a:spcPts val="1200"/>
              </a:spcBef>
              <a:spcAft>
                <a:spcPts val="0"/>
              </a:spcAft>
              <a:buClr>
                <a:schemeClr val="accent1"/>
              </a:buClr>
              <a:buSzPts val="1600"/>
              <a:buFont typeface="Lato"/>
              <a:buAutoNum type="arabicPeriod"/>
            </a:pPr>
            <a:r>
              <a:rPr b="1" lang="pl" sz="1600"/>
              <a:t>Data Encoding (Re-uploading):</a:t>
            </a:r>
            <a:endParaRPr b="1" sz="1600"/>
          </a:p>
          <a:p>
            <a:pPr indent="-330200" lvl="1" marL="914400" rtl="0" algn="l">
              <a:spcBef>
                <a:spcPts val="0"/>
              </a:spcBef>
              <a:spcAft>
                <a:spcPts val="0"/>
              </a:spcAft>
              <a:buClr>
                <a:schemeClr val="accent1"/>
              </a:buClr>
              <a:buSzPts val="1600"/>
              <a:buFont typeface="Lato"/>
              <a:buChar char="○"/>
            </a:pPr>
            <a:r>
              <a:rPr b="1" lang="pl" sz="1600"/>
              <a:t>We use </a:t>
            </a:r>
            <a:r>
              <a:rPr b="1" i="1" lang="pl" sz="1600"/>
              <a:t>AngleEmbedding</a:t>
            </a:r>
            <a:r>
              <a:rPr b="1" lang="pl" sz="1600"/>
              <a:t> (Rotation X) to load the 8 PCA features into the qubits.</a:t>
            </a:r>
            <a:endParaRPr b="1" sz="1600"/>
          </a:p>
          <a:p>
            <a:pPr indent="-330200" lvl="1" marL="914400" rtl="0" algn="l">
              <a:spcBef>
                <a:spcPts val="0"/>
              </a:spcBef>
              <a:spcAft>
                <a:spcPts val="0"/>
              </a:spcAft>
              <a:buClr>
                <a:schemeClr val="accent1"/>
              </a:buClr>
              <a:buSzPts val="1600"/>
              <a:buFont typeface="Lato"/>
              <a:buChar char="○"/>
            </a:pPr>
            <a:r>
              <a:rPr b="1" i="1" lang="pl" sz="1600"/>
              <a:t>Note:</a:t>
            </a:r>
            <a:r>
              <a:rPr b="1" lang="pl" sz="1600"/>
              <a:t> We use "Data Re-uploading," meaning we inject the data into </a:t>
            </a:r>
            <a:r>
              <a:rPr b="1" i="1" lang="pl" sz="1600"/>
              <a:t>every</a:t>
            </a:r>
            <a:r>
              <a:rPr b="1" lang="pl" sz="1600"/>
              <a:t> layer, not just the beginning. This increases the model's expressibility.</a:t>
            </a:r>
            <a:endParaRPr b="1" sz="1600"/>
          </a:p>
          <a:p>
            <a:pPr indent="-330200" lvl="0" marL="457200" rtl="0" algn="l">
              <a:spcBef>
                <a:spcPts val="0"/>
              </a:spcBef>
              <a:spcAft>
                <a:spcPts val="0"/>
              </a:spcAft>
              <a:buClr>
                <a:schemeClr val="accent1"/>
              </a:buClr>
              <a:buSzPts val="1600"/>
              <a:buFont typeface="Lato"/>
              <a:buAutoNum type="arabicPeriod"/>
            </a:pPr>
            <a:r>
              <a:rPr b="1" lang="pl" sz="1600"/>
              <a:t>Trainable Layers:</a:t>
            </a:r>
            <a:endParaRPr b="1" sz="1600"/>
          </a:p>
          <a:p>
            <a:pPr indent="-330200" lvl="1" marL="914400" rtl="0" algn="l">
              <a:spcBef>
                <a:spcPts val="0"/>
              </a:spcBef>
              <a:spcAft>
                <a:spcPts val="0"/>
              </a:spcAft>
              <a:buClr>
                <a:schemeClr val="accent1"/>
              </a:buClr>
              <a:buSzPts val="1600"/>
              <a:buFont typeface="Lato"/>
              <a:buChar char="○"/>
            </a:pPr>
            <a:r>
              <a:rPr b="1" lang="pl" sz="1600"/>
              <a:t>We use </a:t>
            </a:r>
            <a:r>
              <a:rPr b="1" i="1" lang="pl" sz="1600"/>
              <a:t>StronglyEntanglingLayers</a:t>
            </a:r>
            <a:r>
              <a:rPr b="1" lang="pl" sz="1600"/>
              <a:t>.</a:t>
            </a:r>
            <a:endParaRPr b="1" sz="1600"/>
          </a:p>
          <a:p>
            <a:pPr indent="-330200" lvl="1" marL="914400" rtl="0" algn="l">
              <a:spcBef>
                <a:spcPts val="0"/>
              </a:spcBef>
              <a:spcAft>
                <a:spcPts val="0"/>
              </a:spcAft>
              <a:buClr>
                <a:schemeClr val="accent1"/>
              </a:buClr>
              <a:buSzPts val="1600"/>
              <a:buFont typeface="Lato"/>
              <a:buChar char="○"/>
            </a:pPr>
            <a:r>
              <a:rPr b="1" lang="pl" sz="1600"/>
              <a:t>This creates complex dependencies (entanglement) between all 8 qubits, allowing the model to learn non-linear market patterns.</a:t>
            </a: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1"/>
          <p:cNvSpPr txBox="1"/>
          <p:nvPr>
            <p:ph idx="1" type="body"/>
          </p:nvPr>
        </p:nvSpPr>
        <p:spPr>
          <a:xfrm>
            <a:off x="729450" y="1281100"/>
            <a:ext cx="7688700" cy="305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l" sz="1600"/>
              <a:t>3.	</a:t>
            </a:r>
            <a:r>
              <a:rPr b="1" lang="pl" sz="1600"/>
              <a:t>Output (Measurement):</a:t>
            </a:r>
            <a:endParaRPr b="1" sz="1600"/>
          </a:p>
          <a:p>
            <a:pPr indent="-330200" lvl="1" marL="914400" rtl="0" algn="l">
              <a:spcBef>
                <a:spcPts val="1200"/>
              </a:spcBef>
              <a:spcAft>
                <a:spcPts val="0"/>
              </a:spcAft>
              <a:buClr>
                <a:schemeClr val="accent1"/>
              </a:buClr>
              <a:buSzPts val="1600"/>
              <a:buFont typeface="Lato"/>
              <a:buChar char="○"/>
            </a:pPr>
            <a:r>
              <a:rPr b="1" lang="pl" sz="1600"/>
              <a:t>We measure the probabilities of the first 2 qubits ( </a:t>
            </a:r>
            <a:r>
              <a:rPr b="1" i="1" lang="pl" sz="1600"/>
              <a:t>wires=[0, 1]</a:t>
            </a:r>
            <a:r>
              <a:rPr b="1" lang="pl" sz="1600"/>
              <a:t> ).</a:t>
            </a:r>
            <a:endParaRPr b="1" sz="1600"/>
          </a:p>
          <a:p>
            <a:pPr indent="-330200" lvl="1" marL="914400" rtl="0" algn="l">
              <a:spcBef>
                <a:spcPts val="0"/>
              </a:spcBef>
              <a:spcAft>
                <a:spcPts val="0"/>
              </a:spcAft>
              <a:buClr>
                <a:schemeClr val="accent1"/>
              </a:buClr>
              <a:buSzPts val="1600"/>
              <a:buFont typeface="Lato"/>
              <a:buChar char="○"/>
            </a:pPr>
            <a:r>
              <a:rPr b="1" lang="pl" sz="1600"/>
              <a:t>This gives us a distribution over 4 basis states: |00&gt;, |01&gt;, |10&gt;, |11&gt;, corresponding to our 4 Risk Classes.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Optimization &amp; Handling Imbalance</a:t>
            </a:r>
            <a:endParaRPr/>
          </a:p>
        </p:txBody>
      </p:sp>
      <p:sp>
        <p:nvSpPr>
          <p:cNvPr id="207" name="Google Shape;207;p3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pl" sz="1600"/>
              <a:t>The Problem:</a:t>
            </a:r>
            <a:endParaRPr sz="1600"/>
          </a:p>
          <a:p>
            <a:pPr indent="-330200" lvl="0" marL="457200" rtl="0" algn="l">
              <a:spcBef>
                <a:spcPts val="1200"/>
              </a:spcBef>
              <a:spcAft>
                <a:spcPts val="0"/>
              </a:spcAft>
              <a:buClr>
                <a:schemeClr val="accent1"/>
              </a:buClr>
              <a:buSzPts val="1600"/>
              <a:buFont typeface="Lato"/>
              <a:buChar char="●"/>
            </a:pPr>
            <a:r>
              <a:rPr lang="pl" sz="1600"/>
              <a:t>Financial data is imbalanced. "Medium Risk" is common, while "Very High Risk" or “Low Risk” is less frequent.</a:t>
            </a:r>
            <a:endParaRPr sz="1600"/>
          </a:p>
          <a:p>
            <a:pPr indent="-330200" lvl="0" marL="457200" rtl="0" algn="l">
              <a:spcBef>
                <a:spcPts val="0"/>
              </a:spcBef>
              <a:spcAft>
                <a:spcPts val="0"/>
              </a:spcAft>
              <a:buClr>
                <a:schemeClr val="accent1"/>
              </a:buClr>
              <a:buSzPts val="1600"/>
              <a:buFont typeface="Lato"/>
              <a:buChar char="●"/>
            </a:pPr>
            <a:r>
              <a:rPr lang="pl" sz="1600"/>
              <a:t>Standard models tend to ignore rare events to play it safe.</a:t>
            </a:r>
            <a:endParaRPr sz="1600"/>
          </a:p>
          <a:p>
            <a:pPr indent="0" lvl="0" marL="0" rtl="0" algn="l">
              <a:spcBef>
                <a:spcPts val="1200"/>
              </a:spcBef>
              <a:spcAft>
                <a:spcPts val="1200"/>
              </a:spcAft>
              <a:buNone/>
            </a:pPr>
            <a:r>
              <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idx="1" type="body"/>
          </p:nvPr>
        </p:nvSpPr>
        <p:spPr>
          <a:xfrm>
            <a:off x="729450" y="1287125"/>
            <a:ext cx="7688700" cy="30528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pl" sz="1600"/>
              <a:t>Our Solution: Weighted Cross-Entropy Loss</a:t>
            </a:r>
            <a:endParaRPr sz="1600"/>
          </a:p>
          <a:p>
            <a:pPr indent="-330200" lvl="0" marL="457200" rtl="0" algn="l">
              <a:spcBef>
                <a:spcPts val="1200"/>
              </a:spcBef>
              <a:spcAft>
                <a:spcPts val="0"/>
              </a:spcAft>
              <a:buClr>
                <a:schemeClr val="accent1"/>
              </a:buClr>
              <a:buSzPts val="1600"/>
              <a:buFont typeface="Arial"/>
              <a:buChar char="●"/>
            </a:pPr>
            <a:r>
              <a:rPr lang="pl" sz="1600"/>
              <a:t>We assign a specific penalty weight to each class in the cost function:</a:t>
            </a:r>
            <a:endParaRPr sz="1600"/>
          </a:p>
          <a:p>
            <a:pPr indent="-330200" lvl="1" marL="914400" rtl="0" algn="l">
              <a:spcBef>
                <a:spcPts val="0"/>
              </a:spcBef>
              <a:spcAft>
                <a:spcPts val="0"/>
              </a:spcAft>
              <a:buClr>
                <a:schemeClr val="accent1"/>
              </a:buClr>
              <a:buSzPts val="1600"/>
              <a:buFont typeface="Arial"/>
              <a:buChar char="○"/>
            </a:pPr>
            <a:r>
              <a:rPr lang="pl" sz="1600"/>
              <a:t>Low/Med Risk: Weight 1.0 (Standard penalty).</a:t>
            </a:r>
            <a:endParaRPr sz="1600"/>
          </a:p>
          <a:p>
            <a:pPr indent="-330200" lvl="1" marL="914400" rtl="0" algn="l">
              <a:spcBef>
                <a:spcPts val="0"/>
              </a:spcBef>
              <a:spcAft>
                <a:spcPts val="0"/>
              </a:spcAft>
              <a:buClr>
                <a:schemeClr val="accent1"/>
              </a:buClr>
              <a:buSzPts val="1600"/>
              <a:buFont typeface="Arial"/>
              <a:buChar char="○"/>
            </a:pPr>
            <a:r>
              <a:rPr lang="pl" sz="1600"/>
              <a:t>High Risk: Weight 3.0 (3x penalty for missing this).</a:t>
            </a:r>
            <a:endParaRPr sz="1600"/>
          </a:p>
          <a:p>
            <a:pPr indent="-330200" lvl="1" marL="914400" rtl="0" algn="l">
              <a:spcBef>
                <a:spcPts val="0"/>
              </a:spcBef>
              <a:spcAft>
                <a:spcPts val="0"/>
              </a:spcAft>
              <a:buClr>
                <a:schemeClr val="accent1"/>
              </a:buClr>
              <a:buSzPts val="1600"/>
              <a:buFont typeface="Arial"/>
              <a:buChar char="○"/>
            </a:pPr>
            <a:r>
              <a:rPr lang="pl" sz="1600"/>
              <a:t>Very High Risk: Weight 8.0 (8x penalty).</a:t>
            </a:r>
            <a:endParaRPr sz="1600"/>
          </a:p>
          <a:p>
            <a:pPr indent="-330200" lvl="0" marL="457200" rtl="0" algn="l">
              <a:spcBef>
                <a:spcPts val="0"/>
              </a:spcBef>
              <a:spcAft>
                <a:spcPts val="0"/>
              </a:spcAft>
              <a:buClr>
                <a:schemeClr val="accent1"/>
              </a:buClr>
              <a:buSzPts val="1600"/>
              <a:buFont typeface="Lato"/>
              <a:buChar char="●"/>
            </a:pPr>
            <a:r>
              <a:rPr i="1" lang="pl" sz="1600"/>
              <a:t>Effect:</a:t>
            </a:r>
            <a:r>
              <a:rPr lang="pl" sz="1600"/>
              <a:t> The model is forced to be aggressive in predicting high-risk scenarios.</a:t>
            </a:r>
            <a:endParaRPr sz="1600"/>
          </a:p>
          <a:p>
            <a:pPr indent="0" lvl="0" marL="0" rtl="0" algn="l">
              <a:spcBef>
                <a:spcPts val="1200"/>
              </a:spcBef>
              <a:spcAft>
                <a:spcPts val="1200"/>
              </a:spcAft>
              <a:buNone/>
            </a:pPr>
            <a:r>
              <a:t/>
            </a:r>
            <a:endParaRPr sz="1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idx="1" type="body"/>
          </p:nvPr>
        </p:nvSpPr>
        <p:spPr>
          <a:xfrm>
            <a:off x="729450" y="1287125"/>
            <a:ext cx="7688700" cy="30528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pl" sz="1600"/>
              <a:t>Training Loop:</a:t>
            </a:r>
            <a:endParaRPr sz="1600"/>
          </a:p>
          <a:p>
            <a:pPr indent="-330200" lvl="0" marL="457200" rtl="0" algn="l">
              <a:spcBef>
                <a:spcPts val="1200"/>
              </a:spcBef>
              <a:spcAft>
                <a:spcPts val="0"/>
              </a:spcAft>
              <a:buClr>
                <a:schemeClr val="accent1"/>
              </a:buClr>
              <a:buSzPts val="1600"/>
              <a:buFont typeface="Arial"/>
              <a:buChar char="●"/>
            </a:pPr>
            <a:r>
              <a:rPr lang="pl" sz="1600"/>
              <a:t>Optimizer: </a:t>
            </a:r>
            <a:r>
              <a:rPr b="1" lang="pl" sz="1600"/>
              <a:t>Adam </a:t>
            </a:r>
            <a:r>
              <a:rPr lang="pl" sz="1600"/>
              <a:t>(</a:t>
            </a:r>
            <a:r>
              <a:rPr i="1" lang="pl" sz="1600"/>
              <a:t>stepsize=0.02</a:t>
            </a:r>
            <a:r>
              <a:rPr lang="pl" sz="1600"/>
              <a:t>).</a:t>
            </a:r>
            <a:endParaRPr sz="1600"/>
          </a:p>
          <a:p>
            <a:pPr indent="-330200" lvl="0" marL="457200" rtl="0" algn="l">
              <a:spcBef>
                <a:spcPts val="0"/>
              </a:spcBef>
              <a:spcAft>
                <a:spcPts val="0"/>
              </a:spcAft>
              <a:buClr>
                <a:schemeClr val="accent1"/>
              </a:buClr>
              <a:buSzPts val="1600"/>
              <a:buFont typeface="Arial"/>
              <a:buChar char="●"/>
            </a:pPr>
            <a:r>
              <a:rPr lang="pl" sz="1600"/>
              <a:t>Model Checkpointing: We save the </a:t>
            </a:r>
            <a:r>
              <a:rPr i="1" lang="pl" sz="1600"/>
              <a:t>best</a:t>
            </a:r>
            <a:r>
              <a:rPr lang="pl" sz="1600"/>
              <a:t> performing model (highest validation accuracy) during the 60 epochs, preventing overfitting.</a:t>
            </a:r>
            <a:endParaRPr sz="1600"/>
          </a:p>
          <a:p>
            <a:pPr indent="0" lvl="0" marL="0" rtl="0" algn="l">
              <a:spcBef>
                <a:spcPts val="1200"/>
              </a:spcBef>
              <a:spcAft>
                <a:spcPts val="1200"/>
              </a:spcAft>
              <a:buNone/>
            </a:pPr>
            <a:r>
              <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Challenges &amp; Analysis of Results</a:t>
            </a:r>
            <a:endParaRPr/>
          </a:p>
        </p:txBody>
      </p:sp>
      <p:sp>
        <p:nvSpPr>
          <p:cNvPr id="223" name="Google Shape;223;p3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7500" lvl="0" marL="457200" rtl="0" algn="l">
              <a:spcBef>
                <a:spcPts val="1200"/>
              </a:spcBef>
              <a:spcAft>
                <a:spcPts val="0"/>
              </a:spcAft>
              <a:buSzPts val="1400"/>
              <a:buAutoNum type="arabicPeriod"/>
            </a:pPr>
            <a:r>
              <a:rPr b="1" lang="pl" sz="1400"/>
              <a:t>Aggressive Dimensionality Reduction (Information Loss)</a:t>
            </a:r>
            <a:endParaRPr b="1" sz="1400"/>
          </a:p>
          <a:p>
            <a:pPr indent="-317500" lvl="1" marL="914400" rtl="0" algn="l">
              <a:spcBef>
                <a:spcPts val="0"/>
              </a:spcBef>
              <a:spcAft>
                <a:spcPts val="0"/>
              </a:spcAft>
              <a:buSzPts val="1400"/>
              <a:buFont typeface="Arial"/>
              <a:buAutoNum type="alphaLcPeriod"/>
            </a:pPr>
            <a:r>
              <a:rPr lang="pl" sz="1400"/>
              <a:t>The Bottleneck: We compressed 1301 market features down to just 8 Principal Components to fit our quantum hardware.</a:t>
            </a:r>
            <a:endParaRPr sz="1400"/>
          </a:p>
          <a:p>
            <a:pPr indent="-317500" lvl="0" marL="457200" rtl="0" algn="l">
              <a:spcBef>
                <a:spcPts val="0"/>
              </a:spcBef>
              <a:spcAft>
                <a:spcPts val="0"/>
              </a:spcAft>
              <a:buSzPts val="1400"/>
              <a:buAutoNum type="arabicPeriod"/>
            </a:pPr>
            <a:r>
              <a:rPr b="1" lang="pl" sz="1400"/>
              <a:t>The "Safety" Bias</a:t>
            </a:r>
            <a:endParaRPr b="1" sz="1400"/>
          </a:p>
          <a:p>
            <a:pPr indent="-317500" lvl="1" marL="914400" rtl="0" algn="l">
              <a:spcBef>
                <a:spcPts val="0"/>
              </a:spcBef>
              <a:spcAft>
                <a:spcPts val="0"/>
              </a:spcAft>
              <a:buSzPts val="1400"/>
              <a:buFont typeface="Arial"/>
              <a:buAutoNum type="alphaLcPeriod"/>
            </a:pPr>
            <a:r>
              <a:rPr b="1" lang="pl" sz="1400"/>
              <a:t>Behavior</a:t>
            </a:r>
            <a:r>
              <a:rPr lang="pl" sz="1400"/>
              <a:t>: Despite the Weighted Loss function, the model often defaults to predicting the majority class ("Medium") or the safer "Low".</a:t>
            </a:r>
            <a:endParaRPr sz="1400"/>
          </a:p>
          <a:p>
            <a:pPr indent="-317500" lvl="1" marL="914400" rtl="0" algn="l">
              <a:spcBef>
                <a:spcPts val="0"/>
              </a:spcBef>
              <a:spcAft>
                <a:spcPts val="0"/>
              </a:spcAft>
              <a:buSzPts val="1400"/>
              <a:buFont typeface="Arial"/>
              <a:buAutoNum type="alphaLcPeriod"/>
            </a:pPr>
            <a:r>
              <a:rPr b="1" lang="pl" sz="1400"/>
              <a:t>Why?</a:t>
            </a:r>
            <a:r>
              <a:rPr lang="pl" sz="1400"/>
              <a:t> In high-noise environments, ML models tend to converge on the statistical mean to minimize the global error, rather than risking penalties on rare, extreme predictions (Mode Collapse).</a:t>
            </a:r>
            <a:endParaRPr sz="1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idx="1" type="body"/>
          </p:nvPr>
        </p:nvSpPr>
        <p:spPr>
          <a:xfrm>
            <a:off x="729450" y="1275050"/>
            <a:ext cx="7688700" cy="30648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pl" sz="1600"/>
              <a:t>3.	Quantum "Expressibility" Limits</a:t>
            </a:r>
            <a:endParaRPr b="1" sz="1600"/>
          </a:p>
          <a:p>
            <a:pPr indent="-330200" lvl="0" marL="914400" rtl="0" algn="l">
              <a:spcBef>
                <a:spcPts val="1200"/>
              </a:spcBef>
              <a:spcAft>
                <a:spcPts val="0"/>
              </a:spcAft>
              <a:buClr>
                <a:schemeClr val="accent1"/>
              </a:buClr>
              <a:buSzPts val="1600"/>
              <a:buFont typeface="Arial"/>
              <a:buChar char="●"/>
            </a:pPr>
            <a:r>
              <a:rPr b="1" lang="pl" sz="1600"/>
              <a:t>Hardware Constraints</a:t>
            </a:r>
            <a:r>
              <a:rPr lang="pl" sz="1600"/>
              <a:t>: We used an 8-qubit circuit with 3 layers. While advanced, this is still a low-depth circuit.</a:t>
            </a:r>
            <a:endParaRPr sz="1600"/>
          </a:p>
          <a:p>
            <a:pPr indent="-330200" lvl="0" marL="914400" rtl="0" algn="l">
              <a:spcBef>
                <a:spcPts val="0"/>
              </a:spcBef>
              <a:spcAft>
                <a:spcPts val="0"/>
              </a:spcAft>
              <a:buClr>
                <a:schemeClr val="accent1"/>
              </a:buClr>
              <a:buSzPts val="1600"/>
              <a:buFont typeface="Arial"/>
              <a:buChar char="●"/>
            </a:pPr>
            <a:r>
              <a:rPr b="1" lang="pl" sz="1600"/>
              <a:t>Effect:</a:t>
            </a:r>
            <a:r>
              <a:rPr lang="pl" sz="1600"/>
              <a:t> The model may lack the necessary "expressibility" (capacity) to map the </a:t>
            </a:r>
            <a:r>
              <a:rPr b="1" lang="pl" sz="1600"/>
              <a:t>highly complex, chaotic nature of the stock market.</a:t>
            </a:r>
            <a:r>
              <a:rPr lang="pl" sz="1600"/>
              <a:t> It behaves like a "weak learner" — </a:t>
            </a:r>
            <a:r>
              <a:rPr b="1" lang="pl" sz="1600" u="sng"/>
              <a:t>better than random, but not powerful enough to capture deep market sentiment</a:t>
            </a:r>
            <a:r>
              <a:rPr lang="pl" sz="1600"/>
              <a:t>.</a:t>
            </a:r>
            <a:endParaRPr sz="1600"/>
          </a:p>
          <a:p>
            <a:pPr indent="0" lvl="0" marL="0" rtl="0" algn="l">
              <a:spcBef>
                <a:spcPts val="1200"/>
              </a:spcBef>
              <a:spcAft>
                <a:spcPts val="1200"/>
              </a:spcAft>
              <a:buNone/>
            </a:pPr>
            <a:r>
              <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id="233" name="Google Shape;233;p37"/>
          <p:cNvPicPr preferRelativeResize="0"/>
          <p:nvPr/>
        </p:nvPicPr>
        <p:blipFill>
          <a:blip r:embed="rId3">
            <a:alphaModFix/>
          </a:blip>
          <a:stretch>
            <a:fillRect/>
          </a:stretch>
        </p:blipFill>
        <p:spPr>
          <a:xfrm>
            <a:off x="2966250" y="229338"/>
            <a:ext cx="2892101" cy="46848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9" name="Google Shape;239;p3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0" name="Google Shape;240;p38"/>
          <p:cNvPicPr preferRelativeResize="0"/>
          <p:nvPr/>
        </p:nvPicPr>
        <p:blipFill>
          <a:blip r:embed="rId3">
            <a:alphaModFix/>
          </a:blip>
          <a:stretch>
            <a:fillRect/>
          </a:stretch>
        </p:blipFill>
        <p:spPr>
          <a:xfrm>
            <a:off x="0" y="986484"/>
            <a:ext cx="9144000" cy="317053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6" name="Google Shape;246;p3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7" name="Google Shape;247;p39"/>
          <p:cNvPicPr preferRelativeResize="0"/>
          <p:nvPr/>
        </p:nvPicPr>
        <p:blipFill>
          <a:blip r:embed="rId3">
            <a:alphaModFix/>
          </a:blip>
          <a:stretch>
            <a:fillRect/>
          </a:stretch>
        </p:blipFill>
        <p:spPr>
          <a:xfrm>
            <a:off x="0" y="1169434"/>
            <a:ext cx="9144000" cy="317053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Conclusion &amp; Future Work</a:t>
            </a:r>
            <a:endParaRPr/>
          </a:p>
        </p:txBody>
      </p:sp>
      <p:sp>
        <p:nvSpPr>
          <p:cNvPr id="253" name="Google Shape;253;p40"/>
          <p:cNvSpPr txBox="1"/>
          <p:nvPr>
            <p:ph idx="1" type="body"/>
          </p:nvPr>
        </p:nvSpPr>
        <p:spPr>
          <a:xfrm>
            <a:off x="729450" y="2078875"/>
            <a:ext cx="7688700" cy="2818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pl"/>
              <a:t>Summary: </a:t>
            </a:r>
            <a:endParaRPr/>
          </a:p>
          <a:p>
            <a:pPr indent="-304958" lvl="0" marL="457200" rtl="0" algn="l">
              <a:spcBef>
                <a:spcPts val="1200"/>
              </a:spcBef>
              <a:spcAft>
                <a:spcPts val="0"/>
              </a:spcAft>
              <a:buSzPct val="100000"/>
              <a:buChar char="-"/>
            </a:pPr>
            <a:r>
              <a:rPr lang="pl"/>
              <a:t>Engineered a massive 1,301-dimensional dataset</a:t>
            </a:r>
            <a:endParaRPr/>
          </a:p>
          <a:p>
            <a:pPr indent="-304958" lvl="0" marL="457200" rtl="0" algn="l">
              <a:spcBef>
                <a:spcPts val="0"/>
              </a:spcBef>
              <a:spcAft>
                <a:spcPts val="0"/>
              </a:spcAft>
              <a:buSzPct val="100000"/>
              <a:buChar char="-"/>
            </a:pPr>
            <a:r>
              <a:rPr lang="pl"/>
              <a:t>I</a:t>
            </a:r>
            <a:r>
              <a:rPr lang="pl"/>
              <a:t>dentified 90-Day Volatility as the primary risk driver</a:t>
            </a:r>
            <a:endParaRPr/>
          </a:p>
          <a:p>
            <a:pPr indent="-304958" lvl="0" marL="457200" rtl="0" algn="l">
              <a:spcBef>
                <a:spcPts val="0"/>
              </a:spcBef>
              <a:spcAft>
                <a:spcPts val="0"/>
              </a:spcAft>
              <a:buSzPct val="100000"/>
              <a:buChar char="-"/>
            </a:pPr>
            <a:r>
              <a:rPr lang="pl"/>
              <a:t>Validated a Hybrid Quantum Pipeline (PCA + VQC)</a:t>
            </a:r>
            <a:endParaRPr/>
          </a:p>
          <a:p>
            <a:pPr indent="-308372" lvl="0" marL="457200" rtl="0" algn="l">
              <a:spcBef>
                <a:spcPts val="0"/>
              </a:spcBef>
              <a:spcAft>
                <a:spcPts val="0"/>
              </a:spcAft>
              <a:buSzPct val="100000"/>
              <a:buChar char="-"/>
            </a:pPr>
            <a:r>
              <a:rPr lang="pl" sz="1358"/>
              <a:t>Operating on a constrained 8-qubit architecture, the quantum solution already demonstrates strong alignment with real-world market volatility trends.</a:t>
            </a:r>
            <a:endParaRPr sz="1358"/>
          </a:p>
          <a:p>
            <a:pPr indent="-308372" lvl="0" marL="457200" rtl="0" algn="l">
              <a:spcBef>
                <a:spcPts val="0"/>
              </a:spcBef>
              <a:spcAft>
                <a:spcPts val="0"/>
              </a:spcAft>
              <a:buSzPct val="100000"/>
              <a:buFont typeface="Arial"/>
              <a:buChar char="-"/>
            </a:pPr>
            <a:r>
              <a:rPr lang="pl" sz="1358"/>
              <a:t>By mapping financial indicators into a high-dimensional quantum state, the model captures non-linear correlations that traditional classical models (XGBoost) may struggle to identify.</a:t>
            </a:r>
            <a:endParaRPr sz="1358"/>
          </a:p>
          <a:p>
            <a:pPr indent="0" lvl="0" marL="0" rtl="0" algn="l">
              <a:spcBef>
                <a:spcPts val="1200"/>
              </a:spcBef>
              <a:spcAft>
                <a:spcPts val="0"/>
              </a:spcAft>
              <a:buNone/>
            </a:pPr>
            <a:r>
              <a:rPr lang="pl"/>
              <a:t>Future Steps:</a:t>
            </a:r>
            <a:endParaRPr/>
          </a:p>
          <a:p>
            <a:pPr indent="-302021" lvl="0" marL="457200" rtl="0" algn="l">
              <a:spcBef>
                <a:spcPts val="1200"/>
              </a:spcBef>
              <a:spcAft>
                <a:spcPts val="0"/>
              </a:spcAft>
              <a:buSzPct val="100000"/>
              <a:buChar char="-"/>
            </a:pPr>
            <a:r>
              <a:rPr b="1" lang="pl" sz="1250"/>
              <a:t>Deploying circuits on Physical Quantum Processing Units via Amazon Braket or IBM Quantum.</a:t>
            </a:r>
            <a:endParaRPr b="1" sz="1250"/>
          </a:p>
          <a:p>
            <a:pPr indent="-304958" lvl="0" marL="457200" rtl="0" algn="l">
              <a:spcBef>
                <a:spcPts val="0"/>
              </a:spcBef>
              <a:spcAft>
                <a:spcPts val="0"/>
              </a:spcAft>
              <a:buSzPct val="100000"/>
              <a:buChar char="-"/>
            </a:pPr>
            <a:r>
              <a:rPr b="1" lang="pl"/>
              <a:t>Scale Up: </a:t>
            </a:r>
            <a:r>
              <a:rPr lang="pl"/>
              <a:t>Increase to bigger number of Qubits to reduce data loss.</a:t>
            </a:r>
            <a:endParaRPr/>
          </a:p>
          <a:p>
            <a:pPr indent="-304958" lvl="0" marL="457200" rtl="0" algn="l">
              <a:spcBef>
                <a:spcPts val="0"/>
              </a:spcBef>
              <a:spcAft>
                <a:spcPts val="0"/>
              </a:spcAft>
              <a:buSzPct val="113043"/>
              <a:buChar char="-"/>
            </a:pPr>
            <a:r>
              <a:rPr b="1" lang="pl"/>
              <a:t>LLM Agent:</a:t>
            </a:r>
            <a:r>
              <a:rPr lang="pl"/>
              <a:t> Add an AI to explain the risk score in plain English.</a:t>
            </a:r>
            <a:endParaRPr b="1" sz="115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